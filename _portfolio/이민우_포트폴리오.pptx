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10d7335-825a-77bb-c986-cd6dd428d6d1}">
          <p14:sldIdLst>
            <p14:sldId id="256"/>
            <p14:sldId id="257"/>
            <p14:sldId id="258"/>
          </p14:sldIdLst>
        </p14:section>
        <p14:section name="프로젝트" id="{e05d7842-bd81-f3e4-a912-dc2b648c8eb1}">
          <p14:sldIdLst>
            <p14:sldId id="259"/>
            <p14:sldId id="260"/>
            <p14:sldId id="261"/>
          </p14:sldIdLst>
        </p14:section>
        <p14:section name="조사와 설계" id="{aa790704-9bd4-f3bb-892c-e5398c74bb87}">
          <p14:sldIdLst>
            <p14:sldId id="262"/>
            <p14:sldId id="263"/>
          </p14:sldIdLst>
        </p14:section>
        <p14:section name="기술 결정" id="{37aa8f90-8931-adfb-fcbe-63a83be6734c}">
          <p14:sldIdLst>
            <p14:sldId id="264"/>
            <p14:sldId id="265"/>
          </p14:sldIdLst>
        </p14:section>
        <p14:section name="트러블슈팅" id="{f9daf12a-31cd-ff02-ad24-6939cf6409ca}">
          <p14:sldIdLst>
            <p14:sldId id="266"/>
            <p14:sldId id="267"/>
          </p14:sldIdLst>
        </p14:section>
        <p14:section name="일하는 방식" id="{d51f35c8-a7b8-15ad-3b59-9526a0120da2}">
          <p14:sldIdLst>
            <p14:sldId id="268"/>
          </p14:sldIdLst>
        </p14:section>
        <p14:section name="결과" id="{aeeb85a2-e712-8d3c-2583-9cfedbcadb9e}">
          <p14:sldIdLst>
            <p14:sldId id="269"/>
            <p14:sldId id="270"/>
          </p14:sldIdLst>
        </p14:section>
        <p14:section name="마무리" id="{a603ed12-8164-3121-14f1-6bc7b82ac0a5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FRONTEND DEVELOPER PORTFOLIO  ·  이민우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1047750" y="2381250"/>
            <a:ext cx="1047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주장 대신</a:t>
            </a:r>
            <a:endParaRPr lang="en-US" sz="10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검증으로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1047750" y="619125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시스템과 견적 앱을 혼자 만들며,</a:t>
            </a:r>
            <a:endParaRPr lang="en-US" sz="2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말로 적힌 규칙을 실패하는 검사로 바꿔 온 기록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8191500"/>
            <a:ext cx="79057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7750" y="8191500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1914525" y="8191500"/>
            <a:ext cx="6667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14525" y="81915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2657475" y="8191500"/>
            <a:ext cx="10858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7475" y="819150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3819525" y="8191500"/>
            <a:ext cx="122872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19525" y="819150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Tailwind CSS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124450" y="8191500"/>
            <a:ext cx="86677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4450" y="819150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Three.js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067425" y="8191500"/>
            <a:ext cx="99060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67425" y="819150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Turborepo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1047750" y="876300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  ·   github.com/minoong   ·   [확인 필요: 연락용 이메일]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13620750" y="142875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pnpm verify  ·  PR마다 실행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13620750" y="1809750"/>
            <a:ext cx="3619500" cy="495300"/>
          </a:xfrm>
          <a:prstGeom prst="roundRect">
            <a:avLst>
              <a:gd name="adj" fmla="val 9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87450" y="18097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format:check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3887450" y="18097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15430500" y="2305050"/>
            <a:ext cx="95" cy="3429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620750" y="2647950"/>
            <a:ext cx="3619500" cy="495300"/>
          </a:xfrm>
          <a:prstGeom prst="roundRect">
            <a:avLst>
              <a:gd name="adj" fmla="val 9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887450" y="26479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registry:check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3887450" y="26479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15430500" y="3143250"/>
            <a:ext cx="95" cy="3429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620750" y="3486150"/>
            <a:ext cx="3619500" cy="495300"/>
          </a:xfrm>
          <a:prstGeom prst="roundRect">
            <a:avLst>
              <a:gd name="adj" fmla="val 9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887450" y="34861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components:check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3887450" y="34861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15430500" y="3981450"/>
            <a:ext cx="95" cy="3429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620750" y="4324350"/>
            <a:ext cx="3619500" cy="495300"/>
          </a:xfrm>
          <a:prstGeom prst="roundRect">
            <a:avLst>
              <a:gd name="adj" fmla="val 9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3887450" y="43243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lint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3887450" y="43243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15430500" y="4819650"/>
            <a:ext cx="95" cy="3429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620750" y="5162550"/>
            <a:ext cx="3619500" cy="495300"/>
          </a:xfrm>
          <a:prstGeom prst="roundRect">
            <a:avLst>
              <a:gd name="adj" fmla="val 9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3887450" y="51625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check-types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3887450" y="51625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15430500" y="5657850"/>
            <a:ext cx="95" cy="3429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620750" y="6000750"/>
            <a:ext cx="3619500" cy="495300"/>
          </a:xfrm>
          <a:prstGeom prst="roundRect">
            <a:avLst>
              <a:gd name="adj" fmla="val 9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3887450" y="60007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test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13887450" y="60007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15430500" y="6496050"/>
            <a:ext cx="95" cy="3429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20750" y="6838950"/>
            <a:ext cx="3619500" cy="495300"/>
          </a:xfrm>
          <a:prstGeom prst="roundRect">
            <a:avLst>
              <a:gd name="adj" fmla="val 92308"/>
            </a:avLst>
          </a:prstGeom>
          <a:solidFill>
            <a:srgbClr val="2563E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3887450" y="68389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build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13887450" y="6838950"/>
            <a:ext cx="308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</a:t>
            </a:r>
            <a:endParaRPr lang="en-US" sz="11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ABOUT ME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자기소개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1714500"/>
            <a:ext cx="914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규칙을 글로 남기지 않고,
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실패하는 검사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로 만듭니다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953750" y="1809750"/>
            <a:ext cx="10477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53750" y="18097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후 결정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12077700" y="1809750"/>
            <a:ext cx="86677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077700" y="180975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재발 방지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13020675" y="1809750"/>
            <a:ext cx="67627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020675" y="1809750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13773150" y="1809750"/>
            <a:ext cx="77152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73150" y="18097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협업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10953750" y="22860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안녕하세요, 프론트엔드 개발자 이민우입니다.</a:t>
            </a:r>
            <a:endParaRPr lang="en-US" sz="13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[확인 필요: 경력 한 줄 — 예: 신입 / N년 차, 이전 회사]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7750" y="4191000"/>
            <a:ext cx="1619250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7750" y="47625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1047750" y="5067300"/>
            <a:ext cx="4991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고르기 전에 직접 올려 봅니다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047750" y="5867400"/>
            <a:ext cx="4991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프레임워크는 버리는 작업 공간에 Fumadocs와 Nextra를 각각 설치해 같은 기준으로 측정했습니다. 결정마다 측정하지 못한 것과 되돌릴 조건을 함께 기록합니다.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47750" y="8191500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근거: 09·10쪽 기술 결정</a:t>
            </a:r>
            <a:endParaRPr lang="en-US" sz="1130" dirty="0"/>
          </a:p>
        </p:txBody>
      </p:sp>
      <p:sp>
        <p:nvSpPr>
          <p:cNvPr id="20" name="Text 18"/>
          <p:cNvSpPr txBox="1"/>
          <p:nvPr/>
        </p:nvSpPr>
        <p:spPr>
          <a:xfrm>
            <a:off x="6648450" y="47625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6648450" y="5067300"/>
            <a:ext cx="4991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결함은 다시 깨지면 실패하게 묶습니다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6648450" y="5867400"/>
            <a:ext cx="4991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레지스트리 결함 4개를 고친 뒤, 새 Next 앱에 실제로 설치·빌드해 보는 테스트를 만들어 PR과 매일 밤 돌게 했습니다.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648450" y="8191500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근거: 11쪽 트러블슈팅, 15쪽 검증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12249150" y="47625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12249150" y="5067300"/>
            <a:ext cx="4991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AI와 일하되, 끝내는 조건은 직접 정합니다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12249150" y="5867400"/>
            <a:ext cx="4991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Code·Cursor와 함께 개발했습니다. UI를 고치면 브라우저 확인과 전체 검증을 마치기 전에는 작업이 끝나지 않도록 훅으로 강제했습니다.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2249150" y="8191500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근거: 13쪽 개발 방식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INDEX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목차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INDEX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개인 프로젝트 하나를,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판단이 이어진 순서대로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보여 드립니다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3048000"/>
            <a:ext cx="57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30" dirty="0"/>
          </a:p>
        </p:txBody>
      </p:sp>
      <p:sp>
        <p:nvSpPr>
          <p:cNvPr id="8" name="Text 6"/>
          <p:cNvSpPr txBox="1"/>
          <p:nvPr/>
        </p:nvSpPr>
        <p:spPr>
          <a:xfrm>
            <a:off x="1714500" y="30480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프로젝트 개요와 구조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382000" y="30480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– 06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1047750" y="3733800"/>
            <a:ext cx="923925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7750" y="3810000"/>
            <a:ext cx="57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1714500" y="38100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견적기 조사와 규칙 엔진 설계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382000" y="38100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– 08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1047750" y="4495800"/>
            <a:ext cx="923925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7750" y="4572000"/>
            <a:ext cx="57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30" dirty="0"/>
          </a:p>
        </p:txBody>
      </p:sp>
      <p:sp>
        <p:nvSpPr>
          <p:cNvPr id="16" name="Text 14"/>
          <p:cNvSpPr txBox="1"/>
          <p:nvPr/>
        </p:nvSpPr>
        <p:spPr>
          <a:xfrm>
            <a:off x="1714500" y="45720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측정으로 고른 기술 결정 2건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45720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– 10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1047750" y="5257800"/>
            <a:ext cx="923925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7750" y="5334000"/>
            <a:ext cx="57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30" dirty="0"/>
          </a:p>
        </p:txBody>
      </p:sp>
      <p:sp>
        <p:nvSpPr>
          <p:cNvPr id="20" name="Text 18"/>
          <p:cNvSpPr txBox="1"/>
          <p:nvPr/>
        </p:nvSpPr>
        <p:spPr>
          <a:xfrm>
            <a:off x="1714500" y="53340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트러블슈팅 2건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53340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– 12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1047750" y="6019800"/>
            <a:ext cx="923925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7750" y="6096000"/>
            <a:ext cx="57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1714500" y="60960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에이전트와 일하는 방식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60960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1047750" y="6781800"/>
            <a:ext cx="923925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47750" y="6858000"/>
            <a:ext cx="57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30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68580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결과와 검증 방법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8382000" y="68580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– 15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1047750" y="7543800"/>
            <a:ext cx="923925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7750" y="7620000"/>
            <a:ext cx="57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30" dirty="0"/>
          </a:p>
        </p:txBody>
      </p:sp>
      <p:sp>
        <p:nvSpPr>
          <p:cNvPr id="32" name="Text 30"/>
          <p:cNvSpPr txBox="1"/>
          <p:nvPr/>
        </p:nvSpPr>
        <p:spPr>
          <a:xfrm>
            <a:off x="1714500" y="76200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회고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8382000" y="76200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1047750" y="8305800"/>
            <a:ext cx="923925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334750" y="3048000"/>
            <a:ext cx="5905500" cy="6019800"/>
          </a:xfrm>
          <a:prstGeom prst="roundRect">
            <a:avLst>
              <a:gd name="adj" fmla="val 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63955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PROJECT  ·  04쪽</a:t>
            </a:r>
            <a:endParaRPr lang="en-US" sz="980" dirty="0"/>
          </a:p>
        </p:txBody>
      </p:sp>
      <p:sp>
        <p:nvSpPr>
          <p:cNvPr id="37" name="Text 35"/>
          <p:cNvSpPr txBox="1"/>
          <p:nvPr/>
        </p:nvSpPr>
        <p:spPr>
          <a:xfrm>
            <a:off x="11639550" y="3657600"/>
            <a:ext cx="5295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디자인 시스템과 견적 앱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design-monogatari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11639550" y="45720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프로젝트  ·  2026.09 ~ 진행 중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11639550" y="4914900"/>
            <a:ext cx="115252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639550" y="491490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프론트엔드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12868275" y="4914900"/>
            <a:ext cx="115252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2868275" y="491490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</a:t>
            </a:r>
            <a:endParaRPr lang="en-US" sz="1130" dirty="0"/>
          </a:p>
        </p:txBody>
      </p:sp>
      <p:sp>
        <p:nvSpPr>
          <p:cNvPr id="43" name="Text 41"/>
          <p:cNvSpPr txBox="1"/>
          <p:nvPr/>
        </p:nvSpPr>
        <p:spPr>
          <a:xfrm>
            <a:off x="11639550" y="5372100"/>
            <a:ext cx="529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컴포넌트를 만들고, 외부 앱에 설치해 보고, 깨지면 CI가 실패하게 만든 과정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1639550" y="6191250"/>
            <a:ext cx="5295900" cy="2571750"/>
          </a:xfrm>
          <a:prstGeom prst="roundRect">
            <a:avLst>
              <a:gd name="adj" fmla="val 1580"/>
            </a:avLst>
          </a:prstGeom>
          <a:solidFill>
            <a:srgbClr val="E9F0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906250" y="64389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RESULT</a:t>
            </a:r>
            <a:endParaRPr lang="en-US" sz="980" dirty="0"/>
          </a:p>
        </p:txBody>
      </p:sp>
      <p:sp>
        <p:nvSpPr>
          <p:cNvPr id="46" name="Text 44"/>
          <p:cNvSpPr txBox="1"/>
          <p:nvPr/>
        </p:nvSpPr>
        <p:spPr>
          <a:xfrm>
            <a:off x="11906250" y="67246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앱에 설치할 때 중복 생성되던 CSS 변수</a:t>
            </a:r>
            <a:endParaRPr lang="en-US" sz="1130" dirty="0"/>
          </a:p>
        </p:txBody>
      </p:sp>
      <p:sp>
        <p:nvSpPr>
          <p:cNvPr id="47" name="Text 45"/>
          <p:cNvSpPr txBox="1"/>
          <p:nvPr/>
        </p:nvSpPr>
        <p:spPr>
          <a:xfrm>
            <a:off x="11906250" y="7086600"/>
            <a:ext cx="476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→ 0</a:t>
            </a:r>
            <a:endParaRPr lang="en-US" sz="4800" dirty="0"/>
          </a:p>
        </p:txBody>
      </p:sp>
      <p:sp>
        <p:nvSpPr>
          <p:cNvPr id="48" name="Text 46"/>
          <p:cNvSpPr txBox="1"/>
          <p:nvPr/>
        </p:nvSpPr>
        <p:spPr>
          <a:xfrm>
            <a:off x="11906250" y="79248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--color-color-* 변수 개수, 수정 전 → 후</a:t>
            </a:r>
            <a:endParaRPr lang="en-US" sz="113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(새 Next 앱 설치 테스트 기준)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개인 프로젝트 · 디자인 시스템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PROJECT 01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38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11182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레포에서 만드는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design-monogatari</a:t>
            </a:r>
            <a:endParaRPr lang="en-US" sz="3900" dirty="0"/>
          </a:p>
        </p:txBody>
      </p:sp>
      <p:sp>
        <p:nvSpPr>
          <p:cNvPr id="7" name="Text 5"/>
          <p:cNvSpPr txBox="1"/>
          <p:nvPr/>
        </p:nvSpPr>
        <p:spPr>
          <a:xfrm>
            <a:off x="9620250" y="952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Overview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620250" y="13335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스타일 디자인 시스템(@repo/ui)을 만들고, 그 컴포넌트로 BMW X5 가상 견적 앱을 만드는 개인 프로젝트입니다. 컴포넌트는 shadcn 레지스트리로 외부 앱에 배포하고, 문서 사이트와 Storybook으로 설명합니다. 견적 앱은 규칙 엔진과 3D 뷰어를 먼저 완성했고 화면은 만드는 중입니다.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47750" y="38100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1962150" y="38100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2026.09.02 ~ 진행 중 (커밋 기준)</a:t>
            </a:r>
            <a:endParaRPr lang="en-US" sz="113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42291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1962150" y="42291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프로젝트 · 설계와 구현 100%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1047750" y="46482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1962150" y="46482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 96개 · PR 44개 · 앱 2개, 패키지 5개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1047750" y="50673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</a:t>
            </a:r>
            <a:endParaRPr lang="en-US" sz="1130" dirty="0"/>
          </a:p>
        </p:txBody>
      </p:sp>
      <p:sp>
        <p:nvSpPr>
          <p:cNvPr id="16" name="Text 14"/>
          <p:cNvSpPr txBox="1"/>
          <p:nvPr/>
        </p:nvSpPr>
        <p:spPr>
          <a:xfrm>
            <a:off x="1962150" y="50673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(구현·검증 루프)</a:t>
            </a:r>
            <a:endParaRPr lang="en-US" sz="113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Cursor (초기 구현)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1047750" y="57531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1962150" y="5715000"/>
            <a:ext cx="99060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62150" y="571500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16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3028950" y="5715000"/>
            <a:ext cx="86677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28950" y="571500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3971925" y="5715000"/>
            <a:ext cx="12001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71925" y="5715000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 7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1962150" y="6076950"/>
            <a:ext cx="111442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62150" y="60769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Tailwind v4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3152775" y="6076950"/>
            <a:ext cx="6667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52775" y="60769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Radix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3895725" y="6076950"/>
            <a:ext cx="7429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95725" y="6076950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Motion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4714875" y="6076950"/>
            <a:ext cx="6286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14875" y="6076950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GSAP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1962150" y="6438900"/>
            <a:ext cx="86677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62150" y="643890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Three.js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2905125" y="6438900"/>
            <a:ext cx="99060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05125" y="643890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Turborepo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3971925" y="6438900"/>
            <a:ext cx="57150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71925" y="6438900"/>
            <a:ext cx="57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pnpm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1962150" y="6800850"/>
            <a:ext cx="90487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962150" y="6800850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Fumadocs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2943225" y="6800850"/>
            <a:ext cx="99060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43225" y="680085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Storybook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4010025" y="6800850"/>
            <a:ext cx="7429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10025" y="6800850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Vitest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1962150" y="7162800"/>
            <a:ext cx="106680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962150" y="71628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3105150" y="7162800"/>
            <a:ext cx="138112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105150" y="716280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6477000" y="3619500"/>
            <a:ext cx="10763250" cy="5524500"/>
          </a:xfrm>
          <a:prstGeom prst="roundRect">
            <a:avLst>
              <a:gd name="adj" fmla="val 342"/>
            </a:avLst>
          </a:prstGeom>
          <a:solidFill>
            <a:srgbClr val="F1F3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6781800" y="3619500"/>
            <a:ext cx="1015365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[이미지 자리]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사이트 Button 페이지와 Storybook 3D 차량 화면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만들었는지 첫 장에서 바로 보여 주기 위해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형태: 화면 캡처 2장 나란히</a:t>
            </a:r>
            <a:endParaRPr lang="en-US" sz="1130" dirty="0"/>
          </a:p>
        </p:txBody>
      </p:sp>
      <p:sp>
        <p:nvSpPr>
          <p:cNvPr id="50" name="Text 48"/>
          <p:cNvSpPr txBox="1"/>
          <p:nvPr/>
        </p:nvSpPr>
        <p:spPr>
          <a:xfrm>
            <a:off x="6477000" y="933450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견적 카탈로그와 금액은 가상 데이터이며, BMW와 무관한 비공식 포트폴리오입니다.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문제와 해결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ABOUT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3825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무엇을</a:t>
            </a:r>
            <a:endParaRPr lang="en-US" sz="5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4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풀려고 했나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3429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시스템이 ‘배포 가능하다’는 것은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주장이었지, 검증된 사실이 아니었습니다.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47750" y="5334000"/>
            <a:ext cx="6667500" cy="3810000"/>
          </a:xfrm>
          <a:prstGeom prst="roundRect">
            <a:avLst>
              <a:gd name="adj" fmla="val 720"/>
            </a:avLst>
          </a:prstGeom>
          <a:solidFill>
            <a:srgbClr val="F1F3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352550" y="5334000"/>
            <a:ext cx="60579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[이미지 자리]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registry/ 복사본과 원본의 차이(diff) 화면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‘이미 어긋나 있었다’는 문제를 눈으로 보여 주기 위해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형태: 화면 캡처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9010650" y="1238250"/>
            <a:ext cx="3905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3335000" y="1238250"/>
            <a:ext cx="3905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010650" y="1714500"/>
            <a:ext cx="3905250" cy="1638300"/>
          </a:xfrm>
          <a:prstGeom prst="roundRect">
            <a:avLst>
              <a:gd name="adj" fmla="val 38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9250" y="1714500"/>
            <a:ext cx="34480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레지스트리 파일을 손으로 복사해 두어, 원본과 이미 어긋나 있었음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915900" y="1714500"/>
            <a:ext cx="4191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335000" y="1714500"/>
            <a:ext cx="3905250" cy="1638300"/>
          </a:xfrm>
          <a:prstGeom prst="roundRect">
            <a:avLst>
              <a:gd name="adj" fmla="val 3894"/>
            </a:avLst>
          </a:prstGeom>
          <a:solidFill>
            <a:srgbClr val="E9F0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563600" y="1714500"/>
            <a:ext cx="34480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원본(packages/ui) 하나에서 생성하고, 어긋나면 CI가 실패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10650" y="3581400"/>
            <a:ext cx="3905250" cy="1638300"/>
          </a:xfrm>
          <a:prstGeom prst="roundRect">
            <a:avLst>
              <a:gd name="adj" fmla="val 38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9250" y="3581400"/>
            <a:ext cx="34480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색·글꼴 토큰이 문서·CSS·레지스트리 세 곳에 따로 적혀 있었음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915900" y="3581400"/>
            <a:ext cx="4191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0" y="3581400"/>
            <a:ext cx="3905250" cy="1638300"/>
          </a:xfrm>
          <a:prstGeom prst="roundRect">
            <a:avLst>
              <a:gd name="adj" fmla="val 3894"/>
            </a:avLst>
          </a:prstGeom>
          <a:solidFill>
            <a:srgbClr val="E9F0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563600" y="3581400"/>
            <a:ext cx="34480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CSS를 해석해 레지스트리 테마를 자동으로 만듦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010650" y="5448300"/>
            <a:ext cx="3905250" cy="1638300"/>
          </a:xfrm>
          <a:prstGeom prst="roundRect">
            <a:avLst>
              <a:gd name="adj" fmla="val 38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9250" y="5448300"/>
            <a:ext cx="34480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앱에 실제로 설치해 본 적이 없었음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2915900" y="5448300"/>
            <a:ext cx="4191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3335000" y="5448300"/>
            <a:ext cx="3905250" cy="1638300"/>
          </a:xfrm>
          <a:prstGeom prst="roundRect">
            <a:avLst>
              <a:gd name="adj" fmla="val 3894"/>
            </a:avLst>
          </a:prstGeom>
          <a:solidFill>
            <a:srgbClr val="E9F0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563600" y="5448300"/>
            <a:ext cx="34480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Next 앱에 11개 항목을 설치·빌드하는 테스트를 PR과 매일 밤 실행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010650" y="7315200"/>
            <a:ext cx="3905250" cy="1638300"/>
          </a:xfrm>
          <a:prstGeom prst="roundRect">
            <a:avLst>
              <a:gd name="adj" fmla="val 38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39250" y="7315200"/>
            <a:ext cx="34480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‘컴포넌트를 만들면 스토리·문서도 만든다’는 규칙이 글로만 있었음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2915900" y="7315200"/>
            <a:ext cx="4191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3335000" y="7315200"/>
            <a:ext cx="3905250" cy="1638300"/>
          </a:xfrm>
          <a:prstGeom prst="roundRect">
            <a:avLst>
              <a:gd name="adj" fmla="val 3894"/>
            </a:avLst>
          </a:prstGeom>
          <a:solidFill>
            <a:srgbClr val="E9F0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3563600" y="7315200"/>
            <a:ext cx="34480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빠진 파일이 있으면 실패하는 검사 명령과 뼈대 생성 명령 추가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시스템 구조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STRUCTURE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원본은 한 곳에 두고, 나머지는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가져다 쓰거나 생성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하게 만듦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3619500"/>
            <a:ext cx="28575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7750" y="36195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@repo/vehicle-3d  3D 엔진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1047750" y="5524500"/>
            <a:ext cx="2857500" cy="4572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47750" y="55245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@repo/ui  디자인 시스템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810250" y="3619500"/>
            <a:ext cx="28575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10250" y="36195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apps/web  견적 앱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810250" y="4572000"/>
            <a:ext cx="28575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10250" y="45720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Storybook  컴포넌트 확인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810250" y="5524500"/>
            <a:ext cx="28575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10250" y="55245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apps/docs  문서 사이트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810250" y="7239000"/>
            <a:ext cx="28575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10250" y="72390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registry/  설치용 파일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10096500" y="7239000"/>
            <a:ext cx="32385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96500" y="7239000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GitHub 또는 문서 사이트 호스팅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14382750" y="7239000"/>
            <a:ext cx="2857500" cy="4572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4382750" y="72390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외부 Next 앱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3905250" y="3848100"/>
            <a:ext cx="1905000" cy="95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62500" y="3848100"/>
            <a:ext cx="95" cy="95250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2500" y="4800600"/>
            <a:ext cx="1047750" cy="95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05250" y="5753100"/>
            <a:ext cx="1905000" cy="95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238750" y="3848100"/>
            <a:ext cx="95" cy="190500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76500" y="5981700"/>
            <a:ext cx="95" cy="148590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76500" y="7467600"/>
            <a:ext cx="3333750" cy="95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67750" y="7467600"/>
            <a:ext cx="1428750" cy="95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335000" y="7467600"/>
            <a:ext cx="1047750" cy="95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1675" y="3819525"/>
            <a:ext cx="57150" cy="5715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3" name="Shape 31"/>
          <p:cNvSpPr/>
          <p:nvPr/>
        </p:nvSpPr>
        <p:spPr>
          <a:xfrm>
            <a:off x="5781675" y="4772025"/>
            <a:ext cx="57150" cy="5715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4" name="Shape 32"/>
          <p:cNvSpPr/>
          <p:nvPr/>
        </p:nvSpPr>
        <p:spPr>
          <a:xfrm>
            <a:off x="5781675" y="5724525"/>
            <a:ext cx="57150" cy="5715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5" name="Shape 33"/>
          <p:cNvSpPr/>
          <p:nvPr/>
        </p:nvSpPr>
        <p:spPr>
          <a:xfrm>
            <a:off x="5781675" y="7439025"/>
            <a:ext cx="57150" cy="5715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67925" y="7439025"/>
            <a:ext cx="57150" cy="5715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7" name="Shape 35"/>
          <p:cNvSpPr/>
          <p:nvPr/>
        </p:nvSpPr>
        <p:spPr>
          <a:xfrm>
            <a:off x="14354175" y="7439025"/>
            <a:ext cx="57150" cy="5715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667000" y="7048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sync-registry로 생성</a:t>
            </a:r>
            <a:endParaRPr lang="en-US" sz="980" dirty="0"/>
          </a:p>
        </p:txBody>
      </p:sp>
      <p:sp>
        <p:nvSpPr>
          <p:cNvPr id="39" name="Text 37"/>
          <p:cNvSpPr txBox="1"/>
          <p:nvPr/>
        </p:nvSpPr>
        <p:spPr>
          <a:xfrm>
            <a:off x="13430250" y="69532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shadcn add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10096500" y="3619500"/>
            <a:ext cx="7143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나눴나</a:t>
            </a:r>
            <a:endParaRPr lang="en-US" sz="1650" dirty="0"/>
          </a:p>
        </p:txBody>
      </p:sp>
      <p:sp>
        <p:nvSpPr>
          <p:cNvPr id="41" name="Text 39"/>
          <p:cNvSpPr txBox="1"/>
          <p:nvPr/>
        </p:nvSpPr>
        <p:spPr>
          <a:xfrm>
            <a:off x="10096500" y="4000500"/>
            <a:ext cx="714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시스템(@repo/ui)이 유일한 원본입니다. 문서·Storybook·견적 앱은 이를 가져다 쓰고, 외부 배포용 파일은 스크립트가 생성합니다. Three.js는 @repo/vehicle-3d 한 패키지에만 두어 엔진을 바꿔도 안쪽만 고치면 되게 했습니다.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1047750" y="8382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CI 게이트  ·  pnpm verify (PR과 push마다)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1047750" y="8724900"/>
            <a:ext cx="73342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7750" y="8724900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</a:t>
            </a:r>
            <a:endParaRPr lang="en-US" sz="1130" dirty="0"/>
          </a:p>
        </p:txBody>
      </p:sp>
      <p:sp>
        <p:nvSpPr>
          <p:cNvPr id="45" name="Text 43"/>
          <p:cNvSpPr txBox="1"/>
          <p:nvPr/>
        </p:nvSpPr>
        <p:spPr>
          <a:xfrm>
            <a:off x="1781175" y="872490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2124075" y="8724900"/>
            <a:ext cx="133350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24075" y="872490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registry:check</a:t>
            </a:r>
            <a:endParaRPr lang="en-US" sz="1130" dirty="0"/>
          </a:p>
        </p:txBody>
      </p:sp>
      <p:sp>
        <p:nvSpPr>
          <p:cNvPr id="48" name="Text 46"/>
          <p:cNvSpPr txBox="1"/>
          <p:nvPr/>
        </p:nvSpPr>
        <p:spPr>
          <a:xfrm>
            <a:off x="3457575" y="872490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3800475" y="8724900"/>
            <a:ext cx="149542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800475" y="872490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components:check</a:t>
            </a:r>
            <a:endParaRPr lang="en-US" sz="1130" dirty="0"/>
          </a:p>
        </p:txBody>
      </p:sp>
      <p:sp>
        <p:nvSpPr>
          <p:cNvPr id="51" name="Text 49"/>
          <p:cNvSpPr txBox="1"/>
          <p:nvPr/>
        </p:nvSpPr>
        <p:spPr>
          <a:xfrm>
            <a:off x="5295900" y="872490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5638800" y="8724900"/>
            <a:ext cx="57150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38800" y="8724900"/>
            <a:ext cx="57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lint</a:t>
            </a:r>
            <a:endParaRPr lang="en-US" sz="1130" dirty="0"/>
          </a:p>
        </p:txBody>
      </p:sp>
      <p:sp>
        <p:nvSpPr>
          <p:cNvPr id="54" name="Text 52"/>
          <p:cNvSpPr txBox="1"/>
          <p:nvPr/>
        </p:nvSpPr>
        <p:spPr>
          <a:xfrm>
            <a:off x="6210300" y="872490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30" dirty="0"/>
          </a:p>
        </p:txBody>
      </p:sp>
      <p:sp>
        <p:nvSpPr>
          <p:cNvPr id="55" name="Shape 53"/>
          <p:cNvSpPr/>
          <p:nvPr/>
        </p:nvSpPr>
        <p:spPr>
          <a:xfrm>
            <a:off x="6553200" y="8724900"/>
            <a:ext cx="113347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53200" y="87249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check-types</a:t>
            </a:r>
            <a:endParaRPr lang="en-US" sz="1130" dirty="0"/>
          </a:p>
        </p:txBody>
      </p:sp>
      <p:sp>
        <p:nvSpPr>
          <p:cNvPr id="57" name="Text 55"/>
          <p:cNvSpPr txBox="1"/>
          <p:nvPr/>
        </p:nvSpPr>
        <p:spPr>
          <a:xfrm>
            <a:off x="7686675" y="872490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30" dirty="0"/>
          </a:p>
        </p:txBody>
      </p:sp>
      <p:sp>
        <p:nvSpPr>
          <p:cNvPr id="58" name="Shape 56"/>
          <p:cNvSpPr/>
          <p:nvPr/>
        </p:nvSpPr>
        <p:spPr>
          <a:xfrm>
            <a:off x="8029575" y="8724900"/>
            <a:ext cx="57150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029575" y="8724900"/>
            <a:ext cx="57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</a:t>
            </a:r>
            <a:endParaRPr lang="en-US" sz="1130" dirty="0"/>
          </a:p>
        </p:txBody>
      </p:sp>
      <p:sp>
        <p:nvSpPr>
          <p:cNvPr id="60" name="Text 58"/>
          <p:cNvSpPr txBox="1"/>
          <p:nvPr/>
        </p:nvSpPr>
        <p:spPr>
          <a:xfrm>
            <a:off x="8601075" y="872490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30" dirty="0"/>
          </a:p>
        </p:txBody>
      </p:sp>
      <p:sp>
        <p:nvSpPr>
          <p:cNvPr id="61" name="Shape 59"/>
          <p:cNvSpPr/>
          <p:nvPr/>
        </p:nvSpPr>
        <p:spPr>
          <a:xfrm>
            <a:off x="8943975" y="8724900"/>
            <a:ext cx="647700" cy="266700"/>
          </a:xfrm>
          <a:prstGeom prst="roundRect">
            <a:avLst>
              <a:gd name="adj" fmla="val 171429"/>
            </a:avLst>
          </a:prstGeom>
          <a:solidFill>
            <a:srgbClr val="2563EB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943975" y="872490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</a:t>
            </a:r>
            <a:endParaRPr lang="en-US" sz="1130" dirty="0"/>
          </a:p>
        </p:txBody>
      </p:sp>
      <p:sp>
        <p:nvSpPr>
          <p:cNvPr id="63" name="Text 61"/>
          <p:cNvSpPr txBox="1"/>
          <p:nvPr/>
        </p:nvSpPr>
        <p:spPr>
          <a:xfrm>
            <a:off x="9896475" y="87249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매일 밤: 새 앱에 설치해 보는 소비자 테스트</a:t>
            </a:r>
            <a:endParaRPr lang="en-US" sz="11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조사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RESEARCH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두 견적기를 끝까지 눌러 보고,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따를 것과 고칠 것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을 나눔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2209800"/>
            <a:ext cx="1333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제네시스(G90·GV80)와 현대(그랜저)를 고객처럼 사용했습니다. 로그인·구매 없이, 화면과 공개 JSON·네트워크 요청만 근거로 삼았습니다.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750" y="2857500"/>
          <a:ext cx="16192500" cy="914400"/>
        </p:xfrm>
        <a:graphic>
          <a:graphicData uri="http://schemas.openxmlformats.org/drawingml/2006/table">
            <a:tbl>
              <a:tblPr/>
              <a:tblGrid>
                <a:gridCol w="1524000"/>
                <a:gridCol w="4572000"/>
                <a:gridCol w="4572000"/>
                <a:gridCol w="552450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6B728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제네시스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6B728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현대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563EB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우리 선택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구조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단계마다 화면이 있는 위저드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페이지 스크롤, 단계 표시는 앵커 이동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위저드 + 모든 단계가 링크인 스테퍼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URL 상태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전부가 URL에 담겨 링크로 복원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안 담김, 새로고침하면 기본값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전부를 URL에 담아 공유·복원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규칙 처리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옵션 JSON의 규칙을 브라우저에서 처리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 하나를 누르면 API 7건 + 이미지 60장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브라우저에서 순수 함수로 즉시 처리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차량 표시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색마다 정적 이미지 1장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360° 이미지 61장 (최고 트림 기준)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외장 색을 3D 모델에 실제로 반영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1715750" y="2857500"/>
            <a:ext cx="5524500" cy="3771900"/>
          </a:xfrm>
          <a:prstGeom prst="rect">
            <a:avLst/>
          </a:prstGeom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7750" y="7239000"/>
            <a:ext cx="16192500" cy="533400"/>
          </a:xfrm>
          <a:prstGeom prst="roundRect">
            <a:avLst>
              <a:gd name="adj" fmla="val 24490"/>
            </a:avLst>
          </a:prstGeom>
          <a:solidFill>
            <a:srgbClr val="2563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352550" y="723900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두 사이트에서 직접 확인한 규칙 사례 11가지 → 그대로 규칙 엔진의 테스트 시나리오가 됨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047750" y="80772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점: 선행 옵션을 빼면 의존 옵션이 알림 없이 사라지던 동작(제네시스)은 따르지 않고, 자동으로 바뀐 것은 모두 알림. 총액 변경은 스크린 리더에도 알림.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47750" y="8858250"/>
            <a:ext cx="1428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확인하지 못한 것: 로그인 뒤의 할인·결제 화면, 모달 안의 키보드 동작, 옵션 3개 이상이 얽힌 조합</a:t>
            </a:r>
            <a:endParaRPr lang="en-US" sz="11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설계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DESIGN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옵션 하나를 바꾸면 무엇이 따라 바뀌는지,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화면 없이 테스트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할 수 있게 함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3048000"/>
            <a:ext cx="5238750" cy="6096000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5255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1352550" y="36195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규칙은 if문이 아니라 데이터</a:t>
            </a:r>
            <a:endParaRPr lang="en-US" sz="1950" dirty="0"/>
          </a:p>
        </p:txBody>
      </p:sp>
      <p:sp>
        <p:nvSpPr>
          <p:cNvPr id="10" name="Text 8"/>
          <p:cNvSpPr txBox="1"/>
          <p:nvPr/>
        </p:nvSpPr>
        <p:spPr>
          <a:xfrm>
            <a:off x="1352550" y="4057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항목에 붙은 선언으로 규칙을 표현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1352550" y="4572000"/>
            <a:ext cx="1304925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52550" y="457200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availableWhen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1352550" y="49149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고를 수 있나 (트림별 가용성)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1352550" y="5295900"/>
            <a:ext cx="8953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52550" y="529590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requires</a:t>
            </a:r>
            <a:endParaRPr lang="en-US" sz="1130" dirty="0"/>
          </a:p>
        </p:txBody>
      </p:sp>
      <p:sp>
        <p:nvSpPr>
          <p:cNvPr id="16" name="Text 14"/>
          <p:cNvSpPr txBox="1"/>
          <p:nvPr/>
        </p:nvSpPr>
        <p:spPr>
          <a:xfrm>
            <a:off x="1352550" y="56388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있어야 하는 옵션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1352550" y="6019800"/>
            <a:ext cx="8953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52550" y="601980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excludes</a:t>
            </a:r>
            <a:endParaRPr lang="en-US" sz="1130" dirty="0"/>
          </a:p>
        </p:txBody>
      </p:sp>
      <p:sp>
        <p:nvSpPr>
          <p:cNvPr id="19" name="Text 17"/>
          <p:cNvSpPr txBox="1"/>
          <p:nvPr/>
        </p:nvSpPr>
        <p:spPr>
          <a:xfrm>
            <a:off x="1352550" y="63627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고를 수 없는 옵션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1352550" y="6743700"/>
            <a:ext cx="895350" cy="266700"/>
          </a:xfrm>
          <a:prstGeom prst="roundRect">
            <a:avLst>
              <a:gd name="adj" fmla="val 17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52550" y="674370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includes</a:t>
            </a:r>
            <a:endParaRPr lang="en-US" sz="1130" dirty="0"/>
          </a:p>
        </p:txBody>
      </p:sp>
      <p:sp>
        <p:nvSpPr>
          <p:cNvPr id="22" name="Text 20"/>
          <p:cNvSpPr txBox="1"/>
          <p:nvPr/>
        </p:nvSpPr>
        <p:spPr>
          <a:xfrm>
            <a:off x="1352550" y="70866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패키지가 포함하는 옵션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1276350" y="7715250"/>
            <a:ext cx="4781550" cy="1200150"/>
          </a:xfrm>
          <a:prstGeom prst="roundRect">
            <a:avLst>
              <a:gd name="adj" fmla="val 7256"/>
            </a:avLst>
          </a:prstGeom>
          <a:solidFill>
            <a:srgbClr val="E9F0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504950" y="7715250"/>
            <a:ext cx="43243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 </a:t>
            </a:r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제약을 더할 때는 데이터 한 줄과 테스트 하나만 추가하면 됩니다.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524625" y="3048000"/>
            <a:ext cx="5238750" cy="6096000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29425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6829425" y="36195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결과는 셋 중 하나</a:t>
            </a:r>
            <a:endParaRPr lang="en-US" sz="1950" dirty="0"/>
          </a:p>
        </p:txBody>
      </p:sp>
      <p:sp>
        <p:nvSpPr>
          <p:cNvPr id="28" name="Text 26"/>
          <p:cNvSpPr txBox="1"/>
          <p:nvPr/>
        </p:nvSpPr>
        <p:spPr>
          <a:xfrm>
            <a:off x="6829425" y="4057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resolveSelection(이전 선택, 사용자의 의도)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6829425" y="4572000"/>
            <a:ext cx="4629150" cy="857250"/>
          </a:xfrm>
          <a:prstGeom prst="roundRect">
            <a:avLst>
              <a:gd name="adj" fmla="val 11852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58025" y="4705350"/>
            <a:ext cx="4171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applied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058025" y="5010150"/>
            <a:ext cx="417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적용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6829425" y="5581650"/>
            <a:ext cx="4629150" cy="857250"/>
          </a:xfrm>
          <a:prstGeom prst="roundRect">
            <a:avLst>
              <a:gd name="adj" fmla="val 11852"/>
            </a:avLst>
          </a:prstGeom>
          <a:solidFill>
            <a:srgbClr val="2563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058025" y="5715000"/>
            <a:ext cx="4171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needs-confirmation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058025" y="6019800"/>
            <a:ext cx="417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추가·제거·교체가 생기면 확인 후 적용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6829425" y="6591300"/>
            <a:ext cx="4629150" cy="857250"/>
          </a:xfrm>
          <a:prstGeom prst="roundRect">
            <a:avLst>
              <a:gd name="adj" fmla="val 11852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58025" y="6724650"/>
            <a:ext cx="4171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blocked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058025" y="7029450"/>
            <a:ext cx="417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막힌 변경 — 선택이 그대로 유지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6753225" y="7715250"/>
            <a:ext cx="4781550" cy="1200150"/>
          </a:xfrm>
          <a:prstGeom prst="roundRect">
            <a:avLst>
              <a:gd name="adj" fmla="val 7256"/>
            </a:avLst>
          </a:prstGeom>
          <a:solidFill>
            <a:srgbClr val="E9F0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981825" y="7715250"/>
            <a:ext cx="43243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 </a:t>
            </a:r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자동으로 바뀐 것은 모두 결과에 담겨 나오므로, 조용히 사라지는 옵션이 없습니다.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12001500" y="3048000"/>
            <a:ext cx="5238750" cy="6096000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230630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12306300" y="36195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테스트로 고정</a:t>
            </a:r>
            <a:endParaRPr lang="en-US" sz="1950" dirty="0"/>
          </a:p>
        </p:txBody>
      </p:sp>
      <p:sp>
        <p:nvSpPr>
          <p:cNvPr id="43" name="Text 41"/>
          <p:cNvSpPr txBox="1"/>
          <p:nvPr/>
        </p:nvSpPr>
        <p:spPr>
          <a:xfrm>
            <a:off x="12306300" y="4057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러너가 없던 레포에 Vitest 도입</a:t>
            </a:r>
            <a:endParaRPr lang="en-US" sz="1130" dirty="0"/>
          </a:p>
        </p:txBody>
      </p:sp>
      <p:sp>
        <p:nvSpPr>
          <p:cNvPr id="44" name="Text 42"/>
          <p:cNvSpPr txBox="1"/>
          <p:nvPr/>
        </p:nvSpPr>
        <p:spPr>
          <a:xfrm>
            <a:off x="12306300" y="4572000"/>
            <a:ext cx="4629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66개</a:t>
            </a:r>
            <a:endParaRPr lang="en-US" sz="4200" dirty="0"/>
          </a:p>
        </p:txBody>
      </p:sp>
      <p:sp>
        <p:nvSpPr>
          <p:cNvPr id="45" name="Text 43"/>
          <p:cNvSpPr txBox="1"/>
          <p:nvPr/>
        </p:nvSpPr>
        <p:spPr>
          <a:xfrm>
            <a:off x="12306300" y="5257800"/>
            <a:ext cx="46291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— 규칙 종류별 시나리오, 세금 반올림, URL 왕복, 잘못된 입력 복구</a:t>
            </a:r>
            <a:endParaRPr lang="en-US" sz="1130" dirty="0"/>
          </a:p>
        </p:txBody>
      </p:sp>
      <p:sp>
        <p:nvSpPr>
          <p:cNvPr id="46" name="Text 44"/>
          <p:cNvSpPr txBox="1"/>
          <p:nvPr/>
        </p:nvSpPr>
        <p:spPr>
          <a:xfrm>
            <a:off x="12306300" y="5905500"/>
            <a:ext cx="4629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500+</a:t>
            </a:r>
            <a:endParaRPr lang="en-US" sz="4200" dirty="0"/>
          </a:p>
        </p:txBody>
      </p:sp>
      <p:sp>
        <p:nvSpPr>
          <p:cNvPr id="47" name="Text 45"/>
          <p:cNvSpPr txBox="1"/>
          <p:nvPr/>
        </p:nvSpPr>
        <p:spPr>
          <a:xfrm>
            <a:off x="12306300" y="6591300"/>
            <a:ext cx="46291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선택에서 두 번 조작으로 갈 수 있는 모든 상태를 4가지 성질로 검사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12230100" y="7715250"/>
            <a:ext cx="4781550" cy="1200150"/>
          </a:xfrm>
          <a:prstGeom prst="roundRect">
            <a:avLst>
              <a:gd name="adj" fmla="val 7256"/>
            </a:avLst>
          </a:prstGeom>
          <a:solidFill>
            <a:srgbClr val="E9F0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2458700" y="7715250"/>
            <a:ext cx="43243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 </a:t>
            </a:r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하나를 일부러 바꿔 테스트가 실패하는지 확인했고, 테스트를 쓰다 URL 해석 결함 1건을 찾아 고쳤습니다.</a:t>
            </a:r>
            <a:endParaRPr lang="en-US" sz="1130" dirty="0"/>
          </a:p>
        </p:txBody>
      </p:sp>
      <p:sp>
        <p:nvSpPr>
          <p:cNvPr id="50" name="Text 48"/>
          <p:cNvSpPr txBox="1"/>
          <p:nvPr/>
        </p:nvSpPr>
        <p:spPr>
          <a:xfrm>
            <a:off x="8667750" y="942975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세금은 단순화한 가상 규칙이며, 실제 세법과 다르다는 점을 코드에 적었습니다.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기술 결정 ①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DECISION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문서 프레임워크는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직접 올려 보고 측정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해서 고름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2209800"/>
            <a:ext cx="1428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16.4 · React 19.3 · TypeScript 7.0.2 · Tailwind v4 조합에서 동작하는지는 문서만 보고 알 수 없어, 버리는 작업 공간에 각각 설치해 확인했습니다.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47750" y="3048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영구 고정(우회)이 몇 개 필요한가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1047750" y="33909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Nextra 4.6.1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3771900"/>
            <a:ext cx="476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457200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zod 4.3.x 이하 고정 (4.4.0부터 레이아웃 검증 실패)</a:t>
            </a:r>
            <a:endParaRPr lang="en-US" sz="113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docs 앱만 TypeScript 5.9.3 고정 (코드 하이라이트가 TS 7에서 빌드 실패)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1047750" y="59055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Fumadocs 16.17.1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047750" y="6286500"/>
            <a:ext cx="476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0개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1047750" y="70866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없이 설치·빌드·타입 체크 통과</a:t>
            </a:r>
            <a:endParaRPr lang="en-US" sz="11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67500" y="3048000"/>
          <a:ext cx="10572750" cy="914400"/>
        </p:xfrm>
        <a:graphic>
          <a:graphicData uri="http://schemas.openxmlformats.org/drawingml/2006/table">
            <a:tbl>
              <a:tblPr/>
              <a:tblGrid>
                <a:gridCol w="2857500"/>
                <a:gridCol w="1809750"/>
                <a:gridCol w="590550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6B728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Fumadocs 확인 항목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6B728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결과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6B728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확인한 내용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MDX 안에서 @repo/ui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Button 누름·포커스 링, Dialog의 Esc·포커스 복귀를 브라우저에서 확인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라이트·다크 토큰 공존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통과, 수정 1건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전역 CSS의 링크 색 리셋이 문서 링크 색을 덮어써서 제거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props 표 자동 생성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Button props 7개를 값과 함께 출력 (Storybook에서는 못 하던 부분)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한국어 검색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부분 통과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‘버튼’ 4건, 조사가 붙은 ‘버튼은’ 0건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사이드바 고정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통과, 수정 1건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overflow-x: hidden이 sticky를 깨뜨려 clip으로 변경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1047750" y="8191500"/>
            <a:ext cx="16192500" cy="533400"/>
          </a:xfrm>
          <a:prstGeom prst="roundRect">
            <a:avLst>
              <a:gd name="adj" fmla="val 24490"/>
            </a:avLst>
          </a:prstGeom>
          <a:solidFill>
            <a:srgbClr val="2563E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352550" y="819150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주간 다운로드는 Fumadocs가 약 8배 많았지만, 인기는 품질을 보장하지 않아 근거로 쓰지 않음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047750" y="8953500"/>
            <a:ext cx="1428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감수한 것: 문서 화면만 Base UI 기반 판 사용 (디자인 시스템은 Radix 유지), 한국어 검색은 접두 일치 수준</a:t>
            </a:r>
            <a:endParaRPr lang="en-US" sz="11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기술 결정 ②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DECISION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엔진을 바꿀지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지표를 재 보고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정한 뒤, 3D 코드는 한 패키지에 가둠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3048000"/>
            <a:ext cx="5238750" cy="6096000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5255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1352550" y="36195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</a:t>
            </a:r>
            <a:endParaRPr lang="en-US" sz="1950" dirty="0"/>
          </a:p>
        </p:txBody>
      </p:sp>
      <p:sp>
        <p:nvSpPr>
          <p:cNvPr id="10" name="Text 8"/>
          <p:cNvSpPr txBox="1"/>
          <p:nvPr/>
        </p:nvSpPr>
        <p:spPr>
          <a:xfrm>
            <a:off x="1352550" y="4057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Three.js와 Babylon.js 생태계, 2026-10-12 기준</a:t>
            </a:r>
            <a:endParaRPr lang="en-US" sz="1130" dirty="0"/>
          </a:p>
        </p:txBody>
      </p:sp>
      <p:sp>
        <p:nvSpPr>
          <p:cNvPr id="11" name="Text 9"/>
          <p:cNvSpPr txBox="1"/>
          <p:nvPr/>
        </p:nvSpPr>
        <p:spPr>
          <a:xfrm>
            <a:off x="1352550" y="4572000"/>
            <a:ext cx="4629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48배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1352550" y="5257800"/>
            <a:ext cx="46291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npm 월 다운로드: three 8,351만 vs @babylonjs/core 174만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1352550" y="5905500"/>
            <a:ext cx="4629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1,600배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1352550" y="6591300"/>
            <a:ext cx="46291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바인딩 월 다운로드: @react-three/fiber 2,551만 vs react-babylonjs 1.6만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1276350" y="7715250"/>
            <a:ext cx="4781550" cy="1200150"/>
          </a:xfrm>
          <a:prstGeom prst="roundRect">
            <a:avLst>
              <a:gd name="adj" fmla="val 7256"/>
            </a:avLst>
          </a:prstGeom>
          <a:solidFill>
            <a:srgbClr val="E9F0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04950" y="7715250"/>
            <a:ext cx="43243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 </a:t>
            </a:r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‘Babylon.js 공고가 더 많다’는 말은 직접 세지 못해 결정 근거에서 뺐습니다.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524625" y="3048000"/>
            <a:ext cx="5238750" cy="6096000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9425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6829425" y="36195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결정: Three.js 유지</a:t>
            </a:r>
            <a:endParaRPr lang="en-US" sz="1950" dirty="0"/>
          </a:p>
        </p:txBody>
      </p:sp>
      <p:sp>
        <p:nvSpPr>
          <p:cNvPr id="20" name="Text 18"/>
          <p:cNvSpPr txBox="1"/>
          <p:nvPr/>
        </p:nvSpPr>
        <p:spPr>
          <a:xfrm>
            <a:off x="6829425" y="4057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Three Fiber와 함께 그대로 사용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829425" y="4572000"/>
            <a:ext cx="266700" cy="266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29425" y="4572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30" dirty="0"/>
          </a:p>
        </p:txBody>
      </p:sp>
      <p:sp>
        <p:nvSpPr>
          <p:cNvPr id="23" name="Text 21"/>
          <p:cNvSpPr txBox="1"/>
          <p:nvPr/>
        </p:nvSpPr>
        <p:spPr>
          <a:xfrm>
            <a:off x="7248525" y="4552950"/>
            <a:ext cx="42100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도장 클리어코트, HDR 조명, 그림자, 스크롤 연동이 이미 Three.js로 동작함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29425" y="5524500"/>
            <a:ext cx="266700" cy="266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29425" y="55245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7248525" y="5505450"/>
            <a:ext cx="42100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바인딩의 예제와 질문·답변이 압도적으로 많음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829425" y="6477000"/>
            <a:ext cx="266700" cy="266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29425" y="6477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30" dirty="0"/>
          </a:p>
        </p:txBody>
      </p:sp>
      <p:sp>
        <p:nvSpPr>
          <p:cNvPr id="29" name="Text 27"/>
          <p:cNvSpPr txBox="1"/>
          <p:nvPr/>
        </p:nvSpPr>
        <p:spPr>
          <a:xfrm>
            <a:off x="7248525" y="6457950"/>
            <a:ext cx="42100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Babylon.js의 장점(내장 검사 도구 등)은 이 프로젝트에 결정적이지 않음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753225" y="7715250"/>
            <a:ext cx="4781550" cy="1200150"/>
          </a:xfrm>
          <a:prstGeom prst="roundRect">
            <a:avLst>
              <a:gd name="adj" fmla="val 7256"/>
            </a:avLst>
          </a:prstGeom>
          <a:solidFill>
            <a:srgbClr val="E9F0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81825" y="7715250"/>
            <a:ext cx="43243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 </a:t>
            </a:r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엔진을 바꾸면 이미 만든 코드를 처음부터 다시 써야 해서, 바꿀 이유가 비용보다 작았습니다.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12001500" y="3048000"/>
            <a:ext cx="5238750" cy="6096000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30630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12306300" y="36195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되돌릴 수 있게 분리</a:t>
            </a:r>
            <a:endParaRPr lang="en-US" sz="1950" dirty="0"/>
          </a:p>
        </p:txBody>
      </p:sp>
      <p:sp>
        <p:nvSpPr>
          <p:cNvPr id="35" name="Text 33"/>
          <p:cNvSpPr txBox="1"/>
          <p:nvPr/>
        </p:nvSpPr>
        <p:spPr>
          <a:xfrm>
            <a:off x="12306300" y="4057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Three.js는 @repo/vehicle-3d에만 둔다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13287375" y="4667250"/>
            <a:ext cx="2667000" cy="419100"/>
          </a:xfrm>
          <a:prstGeom prst="roundRect">
            <a:avLst>
              <a:gd name="adj" fmla="val 19835"/>
            </a:avLst>
          </a:prstGeom>
          <a:solidFill>
            <a:srgbClr val="2563E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3287375" y="4667250"/>
            <a:ext cx="266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@repo/vehicle-3d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14620875" y="5086350"/>
            <a:ext cx="95" cy="28575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906375" y="5372100"/>
            <a:ext cx="3429000" cy="95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906375" y="5372100"/>
            <a:ext cx="95" cy="24765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92025" y="5619750"/>
            <a:ext cx="10287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2392025" y="5619750"/>
            <a:ext cx="102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viewer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14049375" y="5372100"/>
            <a:ext cx="95" cy="24765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35025" y="5619750"/>
            <a:ext cx="10287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3535025" y="5619750"/>
            <a:ext cx="102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vehicles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15192375" y="5372100"/>
            <a:ext cx="95" cy="24765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678025" y="5619750"/>
            <a:ext cx="10287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4678025" y="5619750"/>
            <a:ext cx="102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paints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16335375" y="5372100"/>
            <a:ext cx="95" cy="24765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821025" y="5619750"/>
            <a:ext cx="10287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5821025" y="5619750"/>
            <a:ext cx="102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constants</a:t>
            </a:r>
            <a:endParaRPr lang="en-US" sz="1130" dirty="0"/>
          </a:p>
        </p:txBody>
      </p:sp>
      <p:sp>
        <p:nvSpPr>
          <p:cNvPr id="52" name="Text 50"/>
          <p:cNvSpPr txBox="1"/>
          <p:nvPr/>
        </p:nvSpPr>
        <p:spPr>
          <a:xfrm>
            <a:off x="12306300" y="6286500"/>
            <a:ext cx="4629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앱과 디자인 시스템은 공개 API 4개만 씁니다. 모델 파일(약 41MB)은 패키지에 싣지 않고 앱이 제공합니다.</a:t>
            </a:r>
            <a:endParaRPr lang="en-US" sz="1130" dirty="0"/>
          </a:p>
        </p:txBody>
      </p:sp>
      <p:sp>
        <p:nvSpPr>
          <p:cNvPr id="53" name="Shape 51"/>
          <p:cNvSpPr/>
          <p:nvPr/>
        </p:nvSpPr>
        <p:spPr>
          <a:xfrm>
            <a:off x="12230100" y="7715250"/>
            <a:ext cx="4781550" cy="1200150"/>
          </a:xfrm>
          <a:prstGeom prst="roundRect">
            <a:avLst>
              <a:gd name="adj" fmla="val 7256"/>
            </a:avLst>
          </a:prstGeom>
          <a:solidFill>
            <a:srgbClr val="E9F0F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2458700" y="7715250"/>
            <a:ext cx="43243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 </a:t>
            </a:r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Playwright로 도장 색을 눌러, 화면의 붉은 픽셀이 8,145개에서 1,335개로 줄어 실제 차 색이 바뀌는 것을 확인했습니다.</a:t>
            </a:r>
            <a:endParaRPr lang="en-US" sz="11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트러블슈팅 ①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TROUBLESHOOTING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새 앱에 실제로 설치해 보자,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결함 4개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가 드러남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2209800"/>
            <a:ext cx="1428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create-next-app으로 빈 앱을 만들고 shadcn init -b radix 후, 로컬에서 빌드한 레지스트리로 설치했습니다.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750" y="2857500"/>
          <a:ext cx="16192500" cy="914400"/>
        </p:xfrm>
        <a:graphic>
          <a:graphicData uri="http://schemas.openxmlformats.org/drawingml/2006/table">
            <a:tbl>
              <a:tblPr/>
              <a:tblGrid>
                <a:gridCol w="609600"/>
                <a:gridCol w="4381500"/>
                <a:gridCol w="5905500"/>
                <a:gridCol w="529590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6B728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증상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6B728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원인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563EB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해결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1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Button 로딩 점이 움직이지 않음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테마 항목에 @keyframes가 빠져 소비자 CSS에 해당 규칙이 0개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CSS의 @keyframes를 해석해 테마에 자동으로 포함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2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Dialog 뒤 배경 막이 생기지 않음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color-mix() 값을 CLI가 색으로 인식하지 못해 자기 참조 변수를 만듦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색의 rgb(r g b / n%)로 변환해서 생성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3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--color-color-* 변수 21개 중복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팔레트를 theme 그룹에 둬서 CLI가 접두어를 한 번 더 붙임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팔레트는 light 그룹으로 옮기고, 줄 높이·폰트 대체 목록도 추가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4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 UI 프로젝트에서 Dialog 타입이 깨짐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CLI가 Radix의 asChild를 Base UI의 render=로 바꿈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결함이 아닌 전제 조건 → 설치 문서에 ‘-b radix’ 필수로 명시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1047750" y="7620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고치지 않은 것: 의심했던 import 별칭(@/ui/label) 불일치는 확인해 보니 CLI가 설치할 때 알아서 바꿔 줘서, 불필요한 수정을 하지 않았습니다.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47750" y="8191500"/>
            <a:ext cx="16192500" cy="1333500"/>
          </a:xfrm>
          <a:prstGeom prst="roundRect">
            <a:avLst>
              <a:gd name="adj" fmla="val 5878"/>
            </a:avLst>
          </a:prstGeom>
          <a:solidFill>
            <a:srgbClr val="F1F3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1352550" y="8191500"/>
            <a:ext cx="155829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[이미지 자리]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전 Dialog 배경 막이 없는 화면과 수정 후 화면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증상을 한눈에 보여 주기 위해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형태: 전후 비교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트러블슈팅 ②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TROUBLESHOOTING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재실행하면 통과하던 CI 실패를,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플레이크로 넘기지 않고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원인을 찾음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3048000"/>
            <a:ext cx="5238750" cy="6286500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5255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1352550" y="36195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950" dirty="0"/>
          </a:p>
        </p:txBody>
      </p:sp>
      <p:sp>
        <p:nvSpPr>
          <p:cNvPr id="10" name="Text 8"/>
          <p:cNvSpPr txBox="1"/>
          <p:nvPr/>
        </p:nvSpPr>
        <p:spPr>
          <a:xfrm>
            <a:off x="1352550" y="4057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CI의 pnpm verify가 가끔 실패</a:t>
            </a:r>
            <a:endParaRPr lang="en-US" sz="1130" dirty="0"/>
          </a:p>
        </p:txBody>
      </p:sp>
      <p:sp>
        <p:nvSpPr>
          <p:cNvPr id="11" name="Text 9"/>
          <p:cNvSpPr txBox="1"/>
          <p:nvPr/>
        </p:nvSpPr>
        <p:spPr>
          <a:xfrm>
            <a:off x="1352550" y="4572000"/>
            <a:ext cx="46291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docs와 web 앱의 타입 검사(check-types)가 간헐적으로 실패했습니다. 다시 돌리면 통과해서 한동안 넘겼습니다.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352550" y="6000750"/>
            <a:ext cx="4629150" cy="1047750"/>
          </a:xfrm>
          <a:prstGeom prst="roundRect">
            <a:avLst>
              <a:gd name="adj" fmla="val 6347"/>
            </a:avLst>
          </a:prstGeom>
          <a:solidFill>
            <a:srgbClr val="1118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81150" y="6000750"/>
            <a:ext cx="41719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F3F4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.next/types/validator.ts:</a:t>
            </a:r>
            <a:endParaRPr lang="en-US" sz="113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F3F4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Cannot find module './routes.js'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1352550" y="72009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#38 실패 로그. 이전 web 앱 실패도 같은 모양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524625" y="3048000"/>
            <a:ext cx="5238750" cy="6286500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29425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6829425" y="36195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950" dirty="0"/>
          </a:p>
        </p:txBody>
      </p:sp>
      <p:sp>
        <p:nvSpPr>
          <p:cNvPr id="18" name="Text 16"/>
          <p:cNvSpPr txBox="1"/>
          <p:nvPr/>
        </p:nvSpPr>
        <p:spPr>
          <a:xfrm>
            <a:off x="6829425" y="4057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폴더를 두 작업이 동시에 씀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829425" y="4572000"/>
            <a:ext cx="4629150" cy="914400"/>
          </a:xfrm>
          <a:prstGeom prst="roundRect">
            <a:avLst>
              <a:gd name="adj" fmla="val 1041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8025" y="4705350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1  ·  check-types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7058025" y="49911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typegen → tsc가 .next/types를 읽음</a:t>
            </a:r>
            <a:endParaRPr lang="en-US" sz="1130" dirty="0"/>
          </a:p>
        </p:txBody>
      </p:sp>
      <p:sp>
        <p:nvSpPr>
          <p:cNvPr id="22" name="Text 20"/>
          <p:cNvSpPr txBox="1"/>
          <p:nvPr/>
        </p:nvSpPr>
        <p:spPr>
          <a:xfrm>
            <a:off x="6829425" y="54864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829425" y="5715000"/>
            <a:ext cx="4629150" cy="914400"/>
          </a:xfrm>
          <a:prstGeom prst="roundRect">
            <a:avLst>
              <a:gd name="adj" fmla="val 1041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58025" y="5848350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2  ·  build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7058025" y="61341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build가 같은 .next를 비우고 다시 씀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6829425" y="66294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6829425" y="6858000"/>
            <a:ext cx="4629150" cy="914400"/>
          </a:xfrm>
          <a:prstGeom prst="roundRect">
            <a:avLst>
              <a:gd name="adj" fmla="val 10417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058025" y="6991350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3  ·  turbo</a:t>
            </a:r>
            <a:endParaRPr lang="en-US" sz="1130" dirty="0"/>
          </a:p>
        </p:txBody>
      </p:sp>
      <p:sp>
        <p:nvSpPr>
          <p:cNvPr id="29" name="Text 27"/>
          <p:cNvSpPr txBox="1"/>
          <p:nvPr/>
        </p:nvSpPr>
        <p:spPr>
          <a:xfrm>
            <a:off x="7058025" y="72771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작업을 병렬로 실행 → 비우는 순간 읽으면 실패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12001500" y="3048000"/>
            <a:ext cx="5238750" cy="6286500"/>
          </a:xfrm>
          <a:prstGeom prst="roundRect">
            <a:avLst>
              <a:gd name="adj" fmla="val 5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30630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980" dirty="0"/>
          </a:p>
        </p:txBody>
      </p:sp>
      <p:sp>
        <p:nvSpPr>
          <p:cNvPr id="32" name="Text 30"/>
          <p:cNvSpPr txBox="1"/>
          <p:nvPr/>
        </p:nvSpPr>
        <p:spPr>
          <a:xfrm>
            <a:off x="12306300" y="36195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950" dirty="0"/>
          </a:p>
        </p:txBody>
      </p:sp>
      <p:sp>
        <p:nvSpPr>
          <p:cNvPr id="33" name="Text 31"/>
          <p:cNvSpPr txBox="1"/>
          <p:nvPr/>
        </p:nvSpPr>
        <p:spPr>
          <a:xfrm>
            <a:off x="12306300" y="4057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작은 변경을 고름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12306300" y="4476750"/>
            <a:ext cx="4629150" cy="1047750"/>
          </a:xfrm>
          <a:prstGeom prst="roundRect">
            <a:avLst>
              <a:gd name="adj" fmla="val 7934"/>
            </a:avLst>
          </a:prstGeom>
          <a:solidFill>
            <a:srgbClr val="F7F8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2534900" y="461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대안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12534900" y="4857750"/>
            <a:ext cx="4171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작업이 서로 다른 출력 폴더를 쓰게 하기 → next.config·tsconfig·타입 경로까지 수정</a:t>
            </a:r>
            <a:endParaRPr lang="en-US" sz="1130" dirty="0"/>
          </a:p>
        </p:txBody>
      </p:sp>
      <p:sp>
        <p:nvSpPr>
          <p:cNvPr id="37" name="Text 35"/>
          <p:cNvSpPr txBox="1"/>
          <p:nvPr/>
        </p:nvSpPr>
        <p:spPr>
          <a:xfrm>
            <a:off x="12306300" y="558165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 바꿀 범위를 비교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12306300" y="5867400"/>
            <a:ext cx="4629150" cy="1047750"/>
          </a:xfrm>
          <a:prstGeom prst="roundRect">
            <a:avLst>
              <a:gd name="adj" fmla="val 7934"/>
            </a:avLst>
          </a:prstGeom>
          <a:solidFill>
            <a:srgbClr val="2563E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2534900" y="600075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12534900" y="6248400"/>
            <a:ext cx="4171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turbo.json에서 build가 같은 앱의 check-types 뒤에 돌도록 순서 한 줄 추가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12230100" y="7239000"/>
            <a:ext cx="4781550" cy="1866900"/>
          </a:xfrm>
          <a:prstGeom prst="roundRect">
            <a:avLst>
              <a:gd name="adj" fmla="val 2999"/>
            </a:avLst>
          </a:prstGeom>
          <a:solidFill>
            <a:srgbClr val="E9F0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458700" y="7239000"/>
            <a:ext cx="432435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 </a:t>
            </a:r>
            <a:pPr algn="l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전체 검증 시간은 약 11초로 이전과 같습니다. 간헐적 실패라 두 번의 성공이 증명은 아니어서, CI를 계속 지켜보고 이 순서를 지우지 않도록 이유를 규칙 문서에 적었습니다.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방식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WORKFLOW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에이전트와 개발하되,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끝내는 조건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은 도구로 강제함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857500"/>
            <a:ext cx="1619250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7750" y="31242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 완료 게이트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000500" y="312420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파일을 고치면 Playwright로 라이트·다크 화면을 확인하고 pnpm verify를 통과하기 전에는 에이전트가 작업을 끝낼 수 없습니다 (Stop 훅).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72750" y="3333750"/>
            <a:ext cx="771525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72750" y="3333750"/>
            <a:ext cx="771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편집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11401425" y="333375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11649075" y="3333750"/>
            <a:ext cx="1314450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649075" y="3333750"/>
            <a:ext cx="131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누락 → 차단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13020675" y="333375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13268325" y="3333750"/>
            <a:ext cx="1362075" cy="304800"/>
          </a:xfrm>
          <a:prstGeom prst="roundRect">
            <a:avLst>
              <a:gd name="adj" fmla="val 150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268325" y="3333750"/>
            <a:ext cx="136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통과 → 종료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1047750" y="4381500"/>
            <a:ext cx="1619250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7750" y="46482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 누락 검사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4000500" y="464820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컴포넌트마다 스토리·문서 페이지·예시·레지스트리·DESIGN.md 항목을 요구합니다. 첫 실행에서 AnimatedAmount의 명세 누락을 실제로 잡았습니다.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572750" y="4857750"/>
            <a:ext cx="676275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2750" y="4857750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11363325" y="4857750"/>
            <a:ext cx="533400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63325" y="485775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12011025" y="4857750"/>
            <a:ext cx="533400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011025" y="485775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12658725" y="4857750"/>
            <a:ext cx="962025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658725" y="4857750"/>
            <a:ext cx="962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레지스트리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13735050" y="4857750"/>
            <a:ext cx="1019175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735050" y="4857750"/>
            <a:ext cx="1019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DESIGN.md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1047750" y="5905500"/>
            <a:ext cx="1619250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7750" y="61722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 리뷰 에이전트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4000500" y="617220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전용 접근성 리뷰어가 키보드, 포커스, 색만으로 전달하는지, 라이브 리전을 점검하고 파일:줄 단위로 보고합니다.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572750" y="6381750"/>
            <a:ext cx="866775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72750" y="6381750"/>
            <a:ext cx="866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전용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11553825" y="6381750"/>
            <a:ext cx="1266825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553825" y="6381750"/>
            <a:ext cx="1266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file:line 보고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12934950" y="6381750"/>
            <a:ext cx="885825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2934950" y="6381750"/>
            <a:ext cx="885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15턴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1047750" y="7429500"/>
            <a:ext cx="1619250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47750" y="76962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 판단 기록</a:t>
            </a:r>
            <a:endParaRPr lang="en-US" sz="1650" dirty="0"/>
          </a:p>
        </p:txBody>
      </p:sp>
      <p:sp>
        <p:nvSpPr>
          <p:cNvPr id="42" name="Text 40"/>
          <p:cNvSpPr txBox="1"/>
          <p:nvPr/>
        </p:nvSpPr>
        <p:spPr>
          <a:xfrm>
            <a:off x="4000500" y="769620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훅의 판단을 로그로 남기되 프롬프트·명령 본문은 저장하지 않습니다. 로깅이 실패해도 게이트 판단은 바뀌지 않게 했습니다.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0572750" y="7905750"/>
            <a:ext cx="1333500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72750" y="790575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목록만 기록</a:t>
            </a:r>
            <a:endParaRPr lang="en-US" sz="1130" dirty="0"/>
          </a:p>
        </p:txBody>
      </p:sp>
      <p:sp>
        <p:nvSpPr>
          <p:cNvPr id="45" name="Shape 43"/>
          <p:cNvSpPr/>
          <p:nvPr/>
        </p:nvSpPr>
        <p:spPr>
          <a:xfrm>
            <a:off x="12020550" y="7905750"/>
            <a:ext cx="1066800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2020550" y="7905750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id 해시</a:t>
            </a:r>
            <a:endParaRPr lang="en-US" sz="1130" dirty="0"/>
          </a:p>
        </p:txBody>
      </p:sp>
      <p:sp>
        <p:nvSpPr>
          <p:cNvPr id="47" name="Shape 45"/>
          <p:cNvSpPr/>
          <p:nvPr/>
        </p:nvSpPr>
        <p:spPr>
          <a:xfrm>
            <a:off x="13201650" y="7905750"/>
            <a:ext cx="847725" cy="304800"/>
          </a:xfrm>
          <a:prstGeom prst="roundRect">
            <a:avLst>
              <a:gd name="adj" fmla="val 1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3201650" y="7905750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1MB 회전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1047750" y="8953500"/>
            <a:ext cx="1619250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47750" y="91821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AI 도구: Claude Code (구현·검증 루프, 커밋 공동 작성자로 표기), Cursor (초기 구현). 모든 PR은 직접 검토하고 병합했습니다. [확인 필요: 검토 방식 한 줄]</a:t>
            </a:r>
            <a:endParaRPr lang="en-US" sz="11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결과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RESULT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고친 것이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다시 깨지지 않는다는 것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을 숫자로 확인함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2209800"/>
            <a:ext cx="1428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측정: 2026-10-12 ~ 13, 로컬과 CI에서 실행한 결과 (커밋 기록 기준)</a:t>
            </a:r>
            <a:endParaRPr lang="en-US" sz="1130" dirty="0"/>
          </a:p>
        </p:txBody>
      </p:sp>
      <p:sp>
        <p:nvSpPr>
          <p:cNvPr id="8" name="Text 6"/>
          <p:cNvSpPr txBox="1"/>
          <p:nvPr/>
        </p:nvSpPr>
        <p:spPr>
          <a:xfrm>
            <a:off x="1047750" y="3048000"/>
            <a:ext cx="381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→ 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1047750" y="38100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앱 설치 시 중복 생성되던 --color-color-* 변수 (수정 전 → 후)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5200650" y="3048000"/>
            <a:ext cx="381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23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5200650" y="38100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컴포넌트가 쓰는 토큰 클래스 중 설치한 앱의 CSS에 실제로 있는 수 (수정 후)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9353550" y="3048000"/>
            <a:ext cx="381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9353550" y="38100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호스팅 레지스트리로 설치할 때 GitHub로 새는 요청 (11개 항목 설치 기준)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13506450" y="3048000"/>
            <a:ext cx="381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15개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13506450" y="38100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PR마다 pnpm verify로 묶어 도는 검증 작업 수 (2026-10-13 기준)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1047750" y="5143500"/>
            <a:ext cx="16192500" cy="95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7750" y="55245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달라졌나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047750" y="59055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‘shadcn add로 설치하면 된다’는 문장이 매일 밤 도는 테스트가 됐습니다. 토큰을 바꿔 테마가 깨지면 registry:check와 소비자 설치 테스트가 실패하고, 컴포넌트에 문서나 스토리가 빠지면 components:check가 실패합니다.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20250" y="5524500"/>
            <a:ext cx="7620000" cy="3619500"/>
          </a:xfrm>
          <a:prstGeom prst="roundRect">
            <a:avLst>
              <a:gd name="adj" fmla="val 798"/>
            </a:avLst>
          </a:prstGeom>
          <a:solidFill>
            <a:srgbClr val="F1F3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9925050" y="5524500"/>
            <a:ext cx="70104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[이미지 자리]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Actions의 Registry consumer 실행 기록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검사가 실제로 돌고 있다는 증거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형태: 화면 캡처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1047750" y="8572500"/>
            <a:ext cx="723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수치(로딩 시간, 3D 모델 용량)는 견적 화면을 붙인 뒤 측정 예정</a:t>
            </a:r>
            <a:endParaRPr lang="en-US" sz="11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 방법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VERIFICATION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검사가 통과하는지보다,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깨졌을 때 실패하는지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를 먼저 확인함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3048000"/>
            <a:ext cx="266700" cy="266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7750" y="3048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1047750" y="35052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결함 되살리기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39243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테마의 @keyframes를 지우고 소비자 테스트를 돌려 종료 코드 1로 실패하는지 확인 후 복구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810250" y="3048000"/>
            <a:ext cx="266700" cy="266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10250" y="30480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5810250" y="35052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일부러 바꾸기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5810250" y="39243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4인승 시트의 필수 동반 규칙을 바꿔 테스트가 실패하는지 확인 후 되돌림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7750" y="5905500"/>
            <a:ext cx="266700" cy="266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7750" y="59055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1047750" y="63627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어긋남 재현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047750" y="67818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복사본 수정, 원본 토큰 변경, 없는 파일 import — 세 경우 모두 registry:check 실패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810250" y="5905500"/>
            <a:ext cx="266700" cy="266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10250" y="59055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5810250" y="63627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실행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5810250" y="67818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스크립트를 다시 돌려도 변경 없음. 임시 컴포넌트로 누락 6건 검출을 확인 후 삭제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763250" y="3048000"/>
            <a:ext cx="6477000" cy="6096000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06805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정상일 때 vs 결함을 넣었을 때</a:t>
            </a:r>
            <a:endParaRPr lang="en-US" sz="98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068050" y="3733800"/>
          <a:ext cx="5867400" cy="914400"/>
        </p:xfrm>
        <a:graphic>
          <a:graphicData uri="http://schemas.openxmlformats.org/drawingml/2006/table">
            <a:tbl>
              <a:tblPr/>
              <a:tblGrid>
                <a:gridCol w="2381250"/>
                <a:gridCol w="1524000"/>
                <a:gridCol w="196215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6B728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검사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6B728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정상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563EB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결함 넣음</a:t>
                      </a:r>
                      <a:endParaRPr lang="en-US" sz="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소비자 설치 테스트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registry:check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3/3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components:check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누락 6건 검출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규칙 엔진 테스트</a:t>
                      </a:r>
                      <a:endParaRPr lang="en-US" sz="113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66개 통과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</a:t>
                      </a:r>
                      <a:endParaRPr lang="en-US" sz="113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95250" marB="9525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11068050" y="6667500"/>
            <a:ext cx="5867400" cy="1714500"/>
          </a:xfrm>
          <a:prstGeom prst="roundRect">
            <a:avLst>
              <a:gd name="adj" fmla="val 3556"/>
            </a:avLst>
          </a:prstGeom>
          <a:solidFill>
            <a:srgbClr val="F1F3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11372850" y="6667500"/>
            <a:ext cx="5257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[이미지 자리]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결함을 넣었을 때의 실패 로그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검사가 실제로 잡는다는 원자료</a:t>
            </a:r>
            <a:endParaRPr lang="en-US" sz="113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형태: 터미널 캡처</a:t>
            </a:r>
            <a:endParaRPr lang="en-US" sz="1130" dirty="0"/>
          </a:p>
        </p:txBody>
      </p:sp>
      <p:sp>
        <p:nvSpPr>
          <p:cNvPr id="28" name="Text 25"/>
          <p:cNvSpPr txBox="1"/>
          <p:nvPr/>
        </p:nvSpPr>
        <p:spPr>
          <a:xfrm>
            <a:off x="11068050" y="8572500"/>
            <a:ext cx="586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모든 결과는 해당 커밋의 검증 기록에서 옮겼습니다.</a:t>
            </a:r>
            <a:endParaRPr lang="en-US" sz="11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DESIGN-MONOGATARI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8667750" y="381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회고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16287750" y="9753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RETROSPECTIVE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12001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만든 것보다 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2563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아직 재지 못한 것</a:t>
            </a:r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111827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을 분명히 적어 둠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3048000"/>
            <a:ext cx="5238750" cy="361950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5255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1352550" y="36576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950" dirty="0"/>
          </a:p>
        </p:txBody>
      </p:sp>
      <p:sp>
        <p:nvSpPr>
          <p:cNvPr id="10" name="Text 8"/>
          <p:cNvSpPr txBox="1"/>
          <p:nvPr/>
        </p:nvSpPr>
        <p:spPr>
          <a:xfrm>
            <a:off x="1352550" y="4248150"/>
            <a:ext cx="4629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결정마다 ‘측정하지 못한 것’과 ‘되돌릴 조건’을 함께 적었습니다. 나중에 결정을 다시 볼 때 무엇이 근거였고 무엇이 추측이었는지 바로 구분할 수 있습니다.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24625" y="3048000"/>
            <a:ext cx="5238750" cy="361950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29425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6829425" y="36576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아쉬운 점</a:t>
            </a:r>
            <a:endParaRPr lang="en-US" sz="1950" dirty="0"/>
          </a:p>
        </p:txBody>
      </p:sp>
      <p:sp>
        <p:nvSpPr>
          <p:cNvPr id="14" name="Text 12"/>
          <p:cNvSpPr txBox="1"/>
          <p:nvPr/>
        </p:nvSpPr>
        <p:spPr>
          <a:xfrm>
            <a:off x="6829425" y="4248150"/>
            <a:ext cx="4629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앱 화면이 아직 없습니다. 규칙 엔진과 3D 뷰어를 먼저 만들어서, 실제 사용 흐름과 성능(로딩 시간, 약 41MB 모델)은 측정하지 못했습니다.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001500" y="3048000"/>
            <a:ext cx="5238750" cy="3619500"/>
          </a:xfrm>
          <a:prstGeom prst="roundRect">
            <a:avLst>
              <a:gd name="adj" fmla="val 1064"/>
            </a:avLst>
          </a:prstGeom>
          <a:solidFill>
            <a:srgbClr val="E9F0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06300" y="33528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2563E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12306300" y="36576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다음에 바꿀 점</a:t>
            </a:r>
            <a:endParaRPr lang="en-US" sz="1950" dirty="0"/>
          </a:p>
        </p:txBody>
      </p:sp>
      <p:sp>
        <p:nvSpPr>
          <p:cNvPr id="18" name="Text 16"/>
          <p:cNvSpPr txBox="1"/>
          <p:nvPr/>
        </p:nvSpPr>
        <p:spPr>
          <a:xfrm>
            <a:off x="12306300" y="4248150"/>
            <a:ext cx="4629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화면을 붙이면서 Core Web Vitals와 모델 압축 전후 용량을 재서 성과 페이지를 채우겠습니다. 조사가 붙은 한국어 검색 문제도 남아 있습니다.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47750" y="72390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한계</a:t>
            </a:r>
            <a:endParaRPr lang="en-US" sz="980" dirty="0"/>
          </a:p>
        </p:txBody>
      </p:sp>
      <p:sp>
        <p:nvSpPr>
          <p:cNvPr id="20" name="Text 18"/>
          <p:cNvSpPr txBox="1"/>
          <p:nvPr/>
        </p:nvSpPr>
        <p:spPr>
          <a:xfrm>
            <a:off x="1047750" y="754380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three 라이브러리의 지원 중단 경고 3건 정리 전  ·  호스팅 주소에서의 CORS·캐시 헤더 동작 미검증  ·  Base UI 프로젝트 설치는 문서화만 함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7750" y="9144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spc="60" kern="0" dirty="0">
                <a:solidFill>
                  <a:srgbClr val="6B728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FRONTEND DEVELOPER PORTFOLIO  ·  이민우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1047750" y="2381250"/>
            <a:ext cx="1238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읽어 주셔서</a:t>
            </a:r>
            <a:endParaRPr lang="en-US" sz="10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10500" dirty="0"/>
          </a:p>
        </p:txBody>
      </p:sp>
      <p:sp>
        <p:nvSpPr>
          <p:cNvPr id="4" name="Text 2"/>
          <p:cNvSpPr txBox="1"/>
          <p:nvPr/>
        </p:nvSpPr>
        <p:spPr>
          <a:xfrm>
            <a:off x="1047750" y="619125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코드와 결정 기록은 모두 레포에 있습니다.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47750" y="8191500"/>
            <a:ext cx="1047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github.com/minoong/design-monogatari</a:t>
            </a:r>
            <a:endParaRPr lang="en-US" sz="13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[확인 필요: 연락용 이메일]</a:t>
            </a:r>
            <a:endParaRPr lang="en-US" sz="13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[확인 필요: 문서 사이트 배포 주소]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 Blue">
  <a:themeElements>
    <a:clrScheme name="Portfolio Blue">
      <a:dk1>
        <a:srgbClr val="111827"/>
      </a:dk1>
      <a:lt1>
        <a:srgbClr val="FFFFFF"/>
      </a:lt1>
      <a:dk2>
        <a:srgbClr val="6B7280"/>
      </a:dk2>
      <a:lt2>
        <a:srgbClr val="F7F8FA"/>
      </a:lt2>
      <a:accent1>
        <a:srgbClr val="2563EB"/>
      </a:accent1>
      <a:accent2>
        <a:srgbClr val="E5484D"/>
      </a:accent2>
      <a:accent3>
        <a:srgbClr val="E5E7EB"/>
      </a:accent3>
      <a:accent4>
        <a:srgbClr val="9CA3AF"/>
      </a:accent4>
      <a:accent5>
        <a:srgbClr val="E9F0FD"/>
      </a:accent5>
      <a:accent6>
        <a:srgbClr val="111827"/>
      </a:accent6>
      <a:hlink>
        <a:srgbClr val="2563EB"/>
      </a:hlink>
      <a:folHlink>
        <a:srgbClr val="1D4ED8"/>
      </a:folHlink>
    </a:clrScheme>
    <a:fontScheme name="Portfolio Blu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이민우 프론트엔드 포트폴리오</dc:title>
  <dc:subject>PptxGenJS Presentation</dc:subject>
  <dc:creator>이민우</dc:creator>
  <cp:lastModifiedBy>이민우</cp:lastModifiedBy>
  <cp:revision>1</cp:revision>
  <dcterms:created xsi:type="dcterms:W3CDTF">2026-10-13T11:55:02Z</dcterms:created>
  <dcterms:modified xsi:type="dcterms:W3CDTF">2026-10-13T11:55:02Z</dcterms:modified>
</cp:coreProperties>
</file>